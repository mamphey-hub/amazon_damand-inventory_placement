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5c2839eeca444b" /><Relationship Type="http://schemas.openxmlformats.org/officeDocument/2006/relationships/extended-properties" Target="/docProps/app.xml" Id="R9c4e9c3d52b74050" /><Relationship Type="http://schemas.openxmlformats.org/officeDocument/2006/relationships/officeDocument" Target="/ppt/presentation.xml" Id="R4f52a0f4700242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957536053543d2"/>
  </p:sldMasterIdLst>
  <p:notesMasterIdLst>
    <p:notesMasterId xmlns:r="http://schemas.openxmlformats.org/officeDocument/2006/relationships" r:id="R5a4daafbe44d487f"/>
  </p:notesMasterIdLst>
  <p:sldIdLst>
    <p:sldId xmlns:r="http://schemas.openxmlformats.org/officeDocument/2006/relationships" id="256" r:id="Rd39b20990a6342dd"/>
    <p:sldId xmlns:r="http://schemas.openxmlformats.org/officeDocument/2006/relationships" id="257" r:id="Rce7c99e1c0be43eb"/>
    <p:sldId xmlns:r="http://schemas.openxmlformats.org/officeDocument/2006/relationships" id="258" r:id="R1c94d4c5195b4195"/>
    <p:sldId xmlns:r="http://schemas.openxmlformats.org/officeDocument/2006/relationships" id="259" r:id="R297084e9e8a54160"/>
    <p:sldId xmlns:r="http://schemas.openxmlformats.org/officeDocument/2006/relationships" id="260" r:id="R70cc1ea9e17a4425"/>
    <p:sldId xmlns:r="http://schemas.openxmlformats.org/officeDocument/2006/relationships" id="261" r:id="R03314253063b408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957536053543d2" /><Relationship Type="http://schemas.openxmlformats.org/officeDocument/2006/relationships/theme" Target="/ppt/theme/theme1.xml" Id="Rceb44383876b4259" /><Relationship Type="http://schemas.openxmlformats.org/officeDocument/2006/relationships/notesMaster" Target="/ppt/notesMasters/notesMaster1.xml" Id="R5a4daafbe44d487f" /><Relationship Type="http://schemas.openxmlformats.org/officeDocument/2006/relationships/presProps" Target="/ppt/presProps.xml" Id="Rc3c9ab6bef184927" /><Relationship Type="http://schemas.openxmlformats.org/officeDocument/2006/relationships/viewProps" Target="/ppt/viewProps.xml" Id="R8e9bfd169cdc4d39" /><Relationship Type="http://schemas.openxmlformats.org/officeDocument/2006/relationships/tableStyles" Target="/ppt/tableStyles.xml" Id="Ra049e2180e784431" /><Relationship Type="http://schemas.openxmlformats.org/officeDocument/2006/relationships/slide" Target="/ppt/slides/slide1.xml" Id="Rd39b20990a6342dd" /><Relationship Type="http://schemas.openxmlformats.org/officeDocument/2006/relationships/slide" Target="/ppt/slides/slide2.xml" Id="Rce7c99e1c0be43eb" /><Relationship Type="http://schemas.openxmlformats.org/officeDocument/2006/relationships/slide" Target="/ppt/slides/slide3.xml" Id="R1c94d4c5195b4195" /><Relationship Type="http://schemas.openxmlformats.org/officeDocument/2006/relationships/slide" Target="/ppt/slides/slide4.xml" Id="R297084e9e8a54160" /><Relationship Type="http://schemas.openxmlformats.org/officeDocument/2006/relationships/slide" Target="/ppt/slides/slide5.xml" Id="R70cc1ea9e17a4425" /><Relationship Type="http://schemas.openxmlformats.org/officeDocument/2006/relationships/slide" Target="/ppt/slides/slide6.xml" Id="R03314253063b40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9c3c863163345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ps">
  <a:themeElements>
    <a:clrScheme name="Ops">
      <a:accent1>
        <a:srgbClr val="2563EB"/>
      </a:accent1>
      <a:accent2>
        <a:srgbClr val="16A34A"/>
      </a:accent2>
      <a:accent3>
        <a:srgbClr val="D97706"/>
      </a:accent3>
      <a:accent4>
        <a:srgbClr val="DC2626"/>
      </a:accent4>
      <a:accent5>
        <a:srgbClr val="1D4ED8"/>
      </a:accent5>
      <a:accent6>
        <a:srgbClr val="0F766E"/>
      </a:accent6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2287e4f8254dfb" /><Relationship Type="http://schemas.openxmlformats.org/officeDocument/2006/relationships/notesMaster" Target="/ppt/notesMasters/notesMaster1.xml" Id="R6cef79afeb644e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7c208fb43a4544" /><Relationship Type="http://schemas.openxmlformats.org/officeDocument/2006/relationships/notesMaster" Target="/ppt/notesMasters/notesMaster1.xml" Id="Rd69ee392886f4f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e76a99cd6c42d2" /><Relationship Type="http://schemas.openxmlformats.org/officeDocument/2006/relationships/notesMaster" Target="/ppt/notesMasters/notesMaster1.xml" Id="Ra5cfd764ba5d40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8cfd3bac9a446d" /><Relationship Type="http://schemas.openxmlformats.org/officeDocument/2006/relationships/notesMaster" Target="/ppt/notesMasters/notesMaster1.xml" Id="Re1fdfe063bab42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aa3c31be8d4cc4" /><Relationship Type="http://schemas.openxmlformats.org/officeDocument/2006/relationships/notesMaster" Target="/ppt/notesMasters/notesMaster1.xml" Id="R1bfcd6e4404b43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9b738fd4d14af7" /><Relationship Type="http://schemas.openxmlformats.org/officeDocument/2006/relationships/notesMaster" Target="/ppt/notesMasters/notesMaster1.xml" Id="R46256cf2d9df41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cbedc8537a437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6E1F068D-BBF8-4045-9ACB-3629BE2C3FB3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E672D731-FAFF-4A88-B3B2-B3A70437C531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3C16743-9499-4004-9B08-E134C0CD5AA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ACBBBAA-2693-499D-A6F5-05CAA239ECC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C51C3F-57B6-4352-B5EB-507C6C8AF5D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d333e45e10e4c16" /><Relationship Type="http://schemas.openxmlformats.org/officeDocument/2006/relationships/slideLayout" Target="/ppt/slideLayouts/slideLayout2.xml" Id="Rb15c4375ec2541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3EC30E-104C-4D59-9B45-47E68A1F634A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5c4375ec2541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f83ec573a54b55" /><Relationship Type="http://schemas.openxmlformats.org/officeDocument/2006/relationships/notesSlide" Target="/ppt/notesSlides/notesSlide1.xml" Id="R78239d2d322942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fcc0802db84df8" /><Relationship Type="http://schemas.openxmlformats.org/officeDocument/2006/relationships/notesSlide" Target="/ppt/notesSlides/notesSlide2.xml" Id="R275cbeae89e74e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7d5dc04b784999" /><Relationship Type="http://schemas.openxmlformats.org/officeDocument/2006/relationships/chart" Target="/ppt/slides/charts/chart1.xml" Id="R6e8a35b18e0a4167" /><Relationship Type="http://schemas.openxmlformats.org/officeDocument/2006/relationships/notesSlide" Target="/ppt/notesSlides/notesSlide3.xml" Id="R924db173bb8440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77d31c5637485b" /><Relationship Type="http://schemas.openxmlformats.org/officeDocument/2006/relationships/notesSlide" Target="/ppt/notesSlides/notesSlide4.xml" Id="R215f966007474e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e67dfad8c64a0b" /><Relationship Type="http://schemas.openxmlformats.org/officeDocument/2006/relationships/chart" Target="/ppt/slides/charts/chart2.xml" Id="Raf8fbd6661dd4b10" /><Relationship Type="http://schemas.openxmlformats.org/officeDocument/2006/relationships/notesSlide" Target="/ppt/notesSlides/notesSlide5.xml" Id="Ra86f6435fc394b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b76af34d8e4f22" /><Relationship Type="http://schemas.openxmlformats.org/officeDocument/2006/relationships/notesSlide" Target="/ppt/notesSlides/notesSlide6.xml" Id="Rcede6ef867334e55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Model benchmark</a:t>
            </a:r>
          </a:p>
        </c:rich>
      </c:tx>
      <c:overlay val="0"/>
    </c:title>
    <c:autoTitleDeleted val="0"/>
    <c:view3D/>
    <c:plotArea>
      <c:layout/>
      <c:barChart>
        <c:barDir val="col"/>
        <c:grouping val="clustered"/>
        <c:varyColors val="0"/>
        <c:ser>
          <c:idx val="0"/>
          <c:order val="0"/>
          <c:tx>
            <c:v>Moving average</c:v>
          </c:tx>
          <c:spPr>
            <a:solidFill xmlns:a="http://schemas.openxmlformats.org/drawingml/2006/main">
              <a:srgbClr val="DC2626"/>
            </a:solidFill>
          </c:spPr>
          <c:cat>
            <c:strLit>
              <c:ptCount val="2"/>
              <c:pt idx="0">
                <c:v>WAPE</c:v>
              </c:pt>
              <c:pt idx="1">
                <c:v>MAPE</c:v>
              </c:pt>
            </c:strLit>
          </c:cat>
          <c:val>
            <c:numLit>
              <c:formatCode>0.0%</c:formatCode>
              <c:ptCount val="2"/>
              <c:pt idx="0">
                <c:v>0.5792</c:v>
              </c:pt>
              <c:pt idx="1">
                <c:v>0.7392891054878205</c:v>
              </c:pt>
            </c:numLit>
          </c:val>
        </c:ser>
        <c:ser>
          <c:idx val="1"/>
          <c:order val="1"/>
          <c:tx>
            <c:v>Selected policy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2"/>
              <c:pt idx="0">
                <c:v>WAPE</c:v>
              </c:pt>
              <c:pt idx="1">
                <c:v>MAPE</c:v>
              </c:pt>
            </c:strLit>
          </c:cat>
          <c:val>
            <c:numLit>
              <c:formatCode>0.0%</c:formatCode>
              <c:ptCount val="2"/>
              <c:pt idx="0">
                <c:v>0.5464</c:v>
              </c:pt>
              <c:pt idx="1">
                <c:v>0.6976399404486942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Baseline vs recommended</a:t>
            </a:r>
          </a:p>
        </c:rich>
      </c:tx>
      <c:overlay val="0"/>
    </c:title>
    <c:autoTitleDeleted val="0"/>
    <c:view3D/>
    <c:plotArea>
      <c:layout/>
      <c:barChart>
        <c:barDir val="col"/>
        <c:grouping val="clustere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DC2626"/>
            </a:solidFill>
          </c:spPr>
          <c:cat>
            <c:strLit>
              <c:ptCount val="3"/>
              <c:pt idx="0">
                <c:v>Fill rate</c:v>
              </c:pt>
              <c:pt idx="1">
                <c:v>Transfer cost</c:v>
              </c:pt>
              <c:pt idx="2">
                <c:v>Lead days</c:v>
              </c:pt>
            </c:strLit>
          </c:cat>
          <c:val>
            <c:numLit>
              <c:formatCode/>
              <c:ptCount val="3"/>
              <c:pt idx="0">
                <c:v>0.8045</c:v>
              </c:pt>
              <c:pt idx="1">
                <c:v>483.92</c:v>
              </c:pt>
              <c:pt idx="2">
                <c:v>2.33</c:v>
              </c:pt>
            </c:numLit>
          </c:val>
        </c:ser>
        <c:ser>
          <c:idx val="1"/>
          <c:order val="1"/>
          <c:tx>
            <c:v>Recommended</c:v>
          </c:tx>
          <c:spPr>
            <a:solidFill xmlns:a="http://schemas.openxmlformats.org/drawingml/2006/main">
              <a:srgbClr val="16A34A"/>
            </a:solidFill>
          </c:spPr>
          <c:cat>
            <c:strLit>
              <c:ptCount val="3"/>
              <c:pt idx="0">
                <c:v>Fill rate</c:v>
              </c:pt>
              <c:pt idx="1">
                <c:v>Transfer cost</c:v>
              </c:pt>
              <c:pt idx="2">
                <c:v>Lead days</c:v>
              </c:pt>
            </c:strLit>
          </c:cat>
          <c:val>
            <c:numLit>
              <c:formatCode/>
              <c:ptCount val="3"/>
              <c:pt idx="0">
                <c:v>0.978</c:v>
              </c:pt>
              <c:pt idx="1">
                <c:v>49.84</c:v>
              </c:pt>
              <c:pt idx="2">
                <c:v>1.7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C51C3F-57B6-4352-B5EB-507C6C8AF5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7D36A-AB8D-412E-8913-761BE399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AMAZON NETWORK PLANNING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1B222-721C-4D50-B1C8-642AD1C9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Regional demand forecasting and inventory placement decision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9CE2F-7283-459C-B12E-047F9D6C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Weekly category-region forecasting with a placement layer designed to raise fill rate, reduce avoidable transfers, and improve delivery speed.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66566-59DB-403F-9871-2A843B06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4A2BF-DDCF-4D84-B97C-17DE5430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Selected-model WAPE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140E2-9B3F-4809-AA4A-E83EB8D1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2152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54.6%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1E39A-5A41-4D3B-87F4-5AA1988D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8125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F9E5C-957B-40F4-AF53-99BB5A9E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5745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On-time fill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ED858F-FEA7-4CB2-9AF5-2A41D51A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62250"/>
            <a:ext cx="2152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97.8%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67302-EB9E-4A1A-8C0E-8CB1960E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8125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3AFFD-16B7-45C0-B79B-E8E6664F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5745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Avg lead days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770D1-0DF5-4B2C-AD37-5473657C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62250"/>
            <a:ext cx="2152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1.70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C931A4-77D2-4857-880D-6BEF15E8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7D8DF-05E2-4BEB-A1A5-D92F14BF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5745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Transfer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404CF-626E-4D2A-B7ED-E4CFD711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62250"/>
            <a:ext cx="2152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$50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612D3-CB4C-4D24-AA4B-0808C2AA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111252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AAC7AE-D276-43F3-820A-B685EF27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Decision statement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9EAC53-98A0-405C-BFF2-92FED61E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47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Forecast at the category-region level, allocate to active SKU-region mixes, and pre-position inventory into low-lead nodes with a backup buffer rather than planning off the current overstocked network footprint.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1A1DC2-77D2-4B10-BD39-7C77DE29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28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Current on-hand is roughly 4655 weeks of modeled active supply, so the immediate operational lever is future replenishment and placement discipline rather than new buys.</a:t>
            </a:r>
          </a:p>
        </p:txBody>
      </p:sp>
    </p:spTree>
    <p:extLst>
      <p:ext uri="{BB962C8B-B14F-4D97-AF65-F5344CB8AC3E}">
        <p14:creationId xmlns:p14="http://schemas.microsoft.com/office/powerpoint/2010/main" val="17207162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C51C3F-57B6-4352-B5EB-507C6C8AF5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D6B64-8C5B-4634-AC21-2EB68258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DATA REALITY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DD2FA-50CD-4979-91AA-1EB830D2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Modeling approach chosen to fit the grain of the source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A84D1-EE75-412C-9760-A52A814F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 input supports a strong regional planning model, but not a statistically credible SKU-region time series for direct forecasting.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3F52A-BCAD-4CA8-9620-AD49026E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51435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120DA-D1AA-42E7-8586-533DBA2D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95500"/>
            <a:ext cx="56769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4AE5D-D5FD-4A3B-A801-BD16E353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What the data supports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6655A-CA4C-404F-A609-4092FA7B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476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- Weekly demand history by category and region</a:t>
            </a:r>
          </a:p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- Promotional and calendar signals</a:t>
            </a:r>
          </a:p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- Warehouse-region cost and lead-time trade-offs</a:t>
            </a:r>
          </a:p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- Current node inventory mix by category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707B68-D47A-45AA-B75D-8E8A29AA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66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Critical limitation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242C4-6DFC-4FDB-B32C-DE946E18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2890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Each SKU-region appears only once historically in the demand file. That means a true per-SKU forecasting benchmark would overstate confidence and understate risk.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8352D-B742-4095-8153-AE1305B6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81450"/>
            <a:ext cx="4953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Chosen solution:</a:t>
            </a:r>
          </a:p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1. Forecast weekly category-region demand.</a:t>
            </a:r>
          </a:p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2. Benchmark moving average vs event-aware regression.</a:t>
            </a:r>
          </a:p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3. Allocate winning forecast to active SKU-region mix.</a:t>
            </a:r>
          </a:p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4. Convert forecasts into target inventory and node placement rules.</a:t>
            </a:r>
          </a:p>
        </p:txBody>
      </p:sp>
    </p:spTree>
    <p:extLst>
      <p:ext uri="{BB962C8B-B14F-4D97-AF65-F5344CB8AC3E}">
        <p14:creationId xmlns:p14="http://schemas.microsoft.com/office/powerpoint/2010/main" val="4009418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C51C3F-57B6-4352-B5EB-507C6C8AF5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783BD-A790-49A3-A395-2A088037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FORECAST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9F824-CC95-4644-B3E6-A740C136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Event-aware regression outperforms the moving-average 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8CE5E-9B13-4282-8210-4BA87C11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 selected policy improves forecast accuracy enough to justify using it as the planning signal for downstream placement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EA187-350F-46F1-B95A-DD2740B9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68580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23609-1A97-4243-B702-AA0BA4D8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39433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781050" y="2438400"/>
          <a:ext xmlns:a="http://schemas.openxmlformats.org/drawingml/2006/main" cx="6286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8a35b18e0a4167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49FCE6-209D-4FC2-8030-F7569B70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003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Why it wins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A21A9E-726C-43D7-AD0C-07B67A52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- Captures promotional lift</a:t>
            </a:r>
          </a:p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- Uses seasonal week patterns</a:t>
            </a:r>
          </a:p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- Preserves a transparent benchmark</a:t>
            </a:r>
          </a:p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- Allows segment-level model selection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63D93-DB43-4B65-9C9F-5CBAF25A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7675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Accuracy moved from 57.9% WAPE to 54.6% WAPE, which is modest but directionally meaningful for inventory positioning.</a:t>
            </a:r>
          </a:p>
        </p:txBody>
      </p:sp>
    </p:spTree>
    <p:extLst>
      <p:ext uri="{BB962C8B-B14F-4D97-AF65-F5344CB8AC3E}">
        <p14:creationId xmlns:p14="http://schemas.microsoft.com/office/powerpoint/2010/main" val="11784152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C51C3F-57B6-4352-B5EB-507C6C8AF5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FF0F4-322B-4C0D-9C9F-1C73606C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PLACEMENT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58654-DE71-45C7-BBFF-A9F9DC7A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Place most inventory in the best service node and keep a smaller backup buffer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1441A-FBAA-4F07-9A8C-328DB747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 network policy favors low-lead nodes first, then uses a secondary buffer node to protect service where volatility or service targets are high.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A0837-FC9B-4569-899F-97A5C40A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133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BA4BA-9D81-4BAD-A3CC-2C266B6E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North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BC8D8-9D64-40C9-986C-C39F2C26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476750"/>
            <a:ext cx="133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2E52C-E1C9-4BAD-ACDE-E2FCDF50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101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West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0EDBD5-E0C1-41E0-9C3F-E26E1DD7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29000"/>
            <a:ext cx="133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36BF3-B9E2-4C52-85E2-E600F1DB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623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Central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33380-7181-47C5-B4E1-A523C02C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133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2204D-8853-4C3D-8318-DD343C87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146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East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FE834E-D3A6-43C4-82AA-1F362D1E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76750"/>
            <a:ext cx="133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91465-A361-442F-8F89-E428FD89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101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</a:defRPr>
            </a:pPr>
            <a:r>
              <a:rPr sz="1500" b="1">
                <a:solidFill>
                  <a:srgbClr val="0B1F33"/>
                </a:solidFill>
              </a:rPr>
              <a:t>South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CF6BAA-5710-4AE7-8E05-CBE7D800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Illustrative node 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3A8087-9522-427A-9931-A97C45B8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762250" cy="28575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AD9945-035B-4597-9DAD-1C46EFF5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860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Placement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775B6B-EC37-4460-9221-977F416F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2286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Primary node share</a:t>
            </a:r>
          </a:p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- 75% to 90%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Backup node share</a:t>
            </a:r>
          </a:p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- 10% to 25%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Trigger a larger backup buffer when service target is high or weekly volatility is elevated.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025550-5C54-4DC6-8B70-9BBFAAC2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43500"/>
            <a:ext cx="266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 result is a cleaner active footprint that serves demand faster than the current evenly spread node mix.</a:t>
            </a:r>
          </a:p>
        </p:txBody>
      </p:sp>
    </p:spTree>
    <p:extLst>
      <p:ext uri="{BB962C8B-B14F-4D97-AF65-F5344CB8AC3E}">
        <p14:creationId xmlns:p14="http://schemas.microsoft.com/office/powerpoint/2010/main" val="1974844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C51C3F-57B6-4352-B5EB-507C6C8AF5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9C28C-D5B6-4842-B9A7-4C56E21E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KPI 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D7804-BD62-48E9-99C7-7562B999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Network service improves sharply while avoidable transfer cost falls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134C0-6E73-4040-A685-6018C828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 policy is designed to improve speed and fill performance without relying on more total inventory.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F6559-43AC-4F32-A4F3-CB985641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69532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329A4-32F3-400E-89B3-4A90C274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3848100" cy="40005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819150" y="2457450"/>
          <a:ext xmlns:a="http://schemas.openxmlformats.org/drawingml/2006/main" cx="63817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8fbd6661dd4b1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A5D4D-C8D9-4B31-A1F8-37D7E7FF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Headline improvements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10629-ED3D-4A05-B4C9-4FB1F636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304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- Fill rate: 80.5% -&gt; 97.8%</a:t>
            </a:r>
          </a:p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- Transfer cost: $484 -&gt; $50</a:t>
            </a:r>
          </a:p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- Lead days: 2.33 -&gt; 1.70</a:t>
            </a:r>
          </a:p>
          <a:p xmlns:a="http://schemas.openxmlformats.org/drawingml/2006/main">
            <a:pPr algn="l">
              <a:defRPr sz="1425" b="0">
                <a:solidFill>
                  <a:srgbClr val="334155"/>
                </a:solidFill>
              </a:defRPr>
            </a:pPr>
            <a:r>
              <a:rPr sz="1425" b="0">
                <a:solidFill>
                  <a:srgbClr val="334155"/>
                </a:solidFill>
              </a:rPr>
              <a:t>- Placement adherence baseline: 66.8%</a:t>
            </a:r>
          </a:p>
        </p:txBody>
      </p:sp>
    </p:spTree>
    <p:extLst>
      <p:ext uri="{BB962C8B-B14F-4D97-AF65-F5344CB8AC3E}">
        <p14:creationId xmlns:p14="http://schemas.microsoft.com/office/powerpoint/2010/main" val="7859609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2C51C3F-57B6-4352-B5EB-507C6C8AF5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7386A-6F01-4B72-9DC4-09268B6E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ACTION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08BB0-EC4B-4CC6-BE58-F189C60B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F33"/>
                </a:solidFill>
              </a:defRPr>
            </a:pPr>
            <a:r>
              <a:rPr sz="2400" b="1">
                <a:solidFill>
                  <a:srgbClr val="0B1F33"/>
                </a:solidFill>
              </a:rPr>
              <a:t>Use the model as a planning layer and govern to a small set of weekly KPIs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22CF9-6E00-48B4-98E3-ED0100C8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 business case is strongest when replenishment decisions are disciplined and the data limitation is acknowledged up front.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C2023-CD68-40B1-AE22-6B2C7EE8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53340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7DB0C-D3B5-48A9-9CF1-341A1B41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54864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4A064-4E78-43B3-A076-F75A0885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Actions for the sponsor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8B363-A82E-4C1C-807E-E7C7A230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1. Use the selected weekly forecast as the planning baseline.</a:t>
            </a:r>
          </a:p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2. Position inventory in the recommended primary and backup nodes.</a:t>
            </a:r>
          </a:p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3. Pause replenishment into the most overstocked node-category pools.</a:t>
            </a:r>
          </a:p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4. Review fill rate, risk, transfer cost, and adherence weekly.</a:t>
            </a:r>
          </a:p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5. Upgrade the data model before scaling to true SKU-level ML.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7B0DE-11D8-4144-9882-16E0188C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05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Trade-offs and limitations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47F9E-EFC8-4E4E-B573-625D6E90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86050"/>
            <a:ext cx="4953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The source data does not contain repeat SKU-region history, supplier lead times, or node-to-node transfer history. This solution is therefore best used as a transparent planning prototype and prioritization tool rather than a production optimizer.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845474-8CA8-432D-B756-F0D3CCC4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767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# Executive Memo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## Recommendation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Use a category-region weekly forecasting layer with model selection between moving-average and event-aware regression, then convert the winning forecast into two-week target inventory plus safety stock for node placement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## Why this works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- The source data does **not** support true time-series forecasting at the `sku_id`-`region` grain because each SKU-region </a:t>
            </a:r>
          </a:p>
        </p:txBody>
      </p:sp>
    </p:spTree>
    <p:extLst>
      <p:ext uri="{BB962C8B-B14F-4D97-AF65-F5344CB8AC3E}">
        <p14:creationId xmlns:p14="http://schemas.microsoft.com/office/powerpoint/2010/main" val="1608467956"/>
      </p:ext>
    </p:extLst>
  </p:cSld>
</p:sld>
</file>

<file path=ppt/theme/theme1.xml><?xml version="1.0" encoding="utf-8"?>
<a:theme xmlns:a="http://schemas.openxmlformats.org/drawingml/2006/main" name="Ops">
  <a:themeElements>
    <a:clrScheme name="Ops">
      <a:accent1>
        <a:srgbClr val="2563EB"/>
      </a:accent1>
      <a:accent2>
        <a:srgbClr val="16A34A"/>
      </a:accent2>
      <a:accent3>
        <a:srgbClr val="D97706"/>
      </a:accent3>
      <a:accent4>
        <a:srgbClr val="DC2626"/>
      </a:accent4>
      <a:accent5>
        <a:srgbClr val="1D4ED8"/>
      </a:accent5>
      <a:accent6>
        <a:srgbClr val="0F766E"/>
      </a:accent6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2026-04-22T13:47:25.5410000Z</dcterms:created>
  <dcterms:modified xsi:type="dcterms:W3CDTF">2026-04-22T13:47:25.5410000Z</dcterms:modified>
</coreProperties>
</file>